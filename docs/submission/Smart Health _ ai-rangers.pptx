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A3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0"/>
            <a:ext cx="64008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Smart Health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87975" y="0"/>
            <a:ext cx="64008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BFE3D8"/>
                </a:solidFill>
                <a:latin typeface="Calibri"/>
              </a:rPr>
              <a:t>AI-Driven Health Center &amp; Supply Chain Management  ·  Team ai-rangers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22960"/>
            <a:ext cx="6400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300" b="1">
                <a:solidFill>
                  <a:srgbClr val="17241F"/>
                </a:solidFill>
                <a:latin typeface="Calibri"/>
              </a:rPr>
              <a:t>Medicines run out
before anyone knows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148840"/>
            <a:ext cx="5943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B9770F"/>
                </a:solidFill>
                <a:latin typeface="Calibri"/>
              </a:rPr>
              <a:t>THE 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514600"/>
            <a:ext cx="59436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6000"/>
              </a:lnSpc>
              <a:spcAft>
                <a:spcPts val="1000"/>
              </a:spcAft>
            </a:pPr>
            <a:r>
              <a:rPr sz="1600" b="1">
                <a:solidFill>
                  <a:srgbClr val="0E6E58"/>
                </a:solidFill>
                <a:latin typeface="Calibri"/>
              </a:rPr>
              <a:t>▸  </a:t>
            </a:r>
            <a:r>
              <a:rPr sz="1600" b="1">
                <a:solidFill>
                  <a:srgbClr val="17241F"/>
                </a:solidFill>
                <a:latin typeface="Calibri"/>
              </a:rPr>
              <a:t>30+ rural centres, on paper</a:t>
            </a:r>
            <a:r>
              <a:rPr sz="1600">
                <a:solidFill>
                  <a:srgbClr val="5E6B64"/>
                </a:solidFill>
                <a:latin typeface="Calibri"/>
              </a:rPr>
              <a:t> — a district officer runs them via registers and phone calls; a stock-out shows up only when a patient is turned away.</a:t>
            </a:r>
          </a:p>
          <a:p>
            <a:pPr>
              <a:lnSpc>
                <a:spcPct val="106000"/>
              </a:lnSpc>
              <a:spcAft>
                <a:spcPts val="1000"/>
              </a:spcAft>
            </a:pPr>
            <a:r>
              <a:rPr sz="1600" b="1">
                <a:solidFill>
                  <a:srgbClr val="0E6E58"/>
                </a:solidFill>
                <a:latin typeface="Calibri"/>
              </a:rPr>
              <a:t>▸  </a:t>
            </a:r>
            <a:r>
              <a:rPr sz="1600" b="1">
                <a:solidFill>
                  <a:srgbClr val="17241F"/>
                </a:solidFill>
                <a:latin typeface="Calibri"/>
              </a:rPr>
              <a:t>No real-time picture</a:t>
            </a:r>
            <a:r>
              <a:rPr sz="1600">
                <a:solidFill>
                  <a:srgbClr val="5E6B64"/>
                </a:solidFill>
                <a:latin typeface="Calibri"/>
              </a:rPr>
              <a:t> — of stock, staff, beds or tests across the district.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4160520"/>
            <a:ext cx="5943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0E6E58"/>
                </a:solidFill>
                <a:latin typeface="Calibri"/>
              </a:rPr>
              <a:t>OUR SOLUTION — SMART HEALTH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4526280"/>
            <a:ext cx="5943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6000"/>
              </a:lnSpc>
              <a:spcAft>
                <a:spcPts val="1000"/>
              </a:spcAft>
            </a:pPr>
            <a:r>
              <a:rPr sz="1600" b="1">
                <a:solidFill>
                  <a:srgbClr val="0E6E58"/>
                </a:solidFill>
                <a:latin typeface="Calibri"/>
              </a:rPr>
              <a:t>▸  </a:t>
            </a:r>
            <a:r>
              <a:rPr sz="1600" b="1">
                <a:solidFill>
                  <a:srgbClr val="17241F"/>
                </a:solidFill>
                <a:latin typeface="Calibri"/>
              </a:rPr>
              <a:t>A live district command centre</a:t>
            </a:r>
            <a:r>
              <a:rPr sz="1600">
                <a:solidFill>
                  <a:srgbClr val="5E6B64"/>
                </a:solidFill>
                <a:latin typeface="Calibri"/>
              </a:rPr>
              <a:t> — + a 60-second daily-report app for staff, with multi-language support.</a:t>
            </a:r>
          </a:p>
          <a:p>
            <a:pPr>
              <a:lnSpc>
                <a:spcPct val="106000"/>
              </a:lnSpc>
              <a:spcAft>
                <a:spcPts val="1000"/>
              </a:spcAft>
            </a:pPr>
            <a:r>
              <a:rPr sz="1600" b="1">
                <a:solidFill>
                  <a:srgbClr val="0E6E58"/>
                </a:solidFill>
                <a:latin typeface="Calibri"/>
              </a:rPr>
              <a:t>▸  </a:t>
            </a:r>
            <a:r>
              <a:rPr sz="1600" b="1">
                <a:solidFill>
                  <a:srgbClr val="17241F"/>
                </a:solidFill>
                <a:latin typeface="Calibri"/>
              </a:rPr>
              <a:t>Warns days before a centre runs dry</a:t>
            </a:r>
            <a:r>
              <a:rPr sz="1600">
                <a:solidFill>
                  <a:srgbClr val="5E6B64"/>
                </a:solidFill>
                <a:latin typeface="Calibri"/>
              </a:rPr>
              <a:t> — and tells the officer exactly what to do.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720840" y="914400"/>
            <a:ext cx="4983480" cy="5120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E4E1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3720" y="2031682"/>
            <a:ext cx="4617720" cy="288607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02920" y="6400800"/>
            <a:ext cx="82296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5E6B64"/>
                </a:solidFill>
                <a:latin typeface="Calibri"/>
              </a:rPr>
              <a:t>Live on Google Cloud  ·  smart-health-20737125641.asia-south1.run.app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94415" y="6400800"/>
            <a:ext cx="5943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5E6B64"/>
                </a:solidFill>
                <a:latin typeface="Calibri"/>
              </a:rPr>
              <a:t>1 /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A3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0"/>
            <a:ext cx="64008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Smart Health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87975" y="0"/>
            <a:ext cx="64008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BFE3D8"/>
                </a:solidFill>
                <a:latin typeface="Calibri"/>
              </a:rPr>
              <a:t>Key Features &amp; Innovation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22960"/>
            <a:ext cx="8229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800" b="1">
                <a:solidFill>
                  <a:srgbClr val="17241F"/>
                </a:solidFill>
                <a:latin typeface="Calibri"/>
              </a:rPr>
              <a:t>Built for the last mile — and hard to cheat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783080"/>
            <a:ext cx="73152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6000"/>
              </a:lnSpc>
              <a:spcAft>
                <a:spcPts val="1300"/>
              </a:spcAft>
            </a:pPr>
            <a:r>
              <a:rPr sz="1600" b="1">
                <a:solidFill>
                  <a:srgbClr val="0E6E58"/>
                </a:solidFill>
                <a:latin typeface="Calibri"/>
              </a:rPr>
              <a:t>▸  </a:t>
            </a:r>
            <a:r>
              <a:rPr sz="1600" b="1">
                <a:solidFill>
                  <a:srgbClr val="17241F"/>
                </a:solidFill>
                <a:latin typeface="Calibri"/>
              </a:rPr>
              <a:t>Predicts &amp; prevents stock-outs</a:t>
            </a:r>
            <a:r>
              <a:rPr sz="1600">
                <a:solidFill>
                  <a:srgbClr val="5E6B64"/>
                </a:solidFill>
                <a:latin typeface="Calibri"/>
              </a:rPr>
              <a:t> — flags a shortage days early and auto-suggests moving medicine from a surplus centre to one about to run dry.</a:t>
            </a:r>
          </a:p>
          <a:p>
            <a:pPr>
              <a:lnSpc>
                <a:spcPct val="106000"/>
              </a:lnSpc>
              <a:spcAft>
                <a:spcPts val="1300"/>
              </a:spcAft>
            </a:pPr>
            <a:r>
              <a:rPr sz="1600" b="1">
                <a:solidFill>
                  <a:srgbClr val="0E6E58"/>
                </a:solidFill>
                <a:latin typeface="Calibri"/>
              </a:rPr>
              <a:t>▸  </a:t>
            </a:r>
            <a:r>
              <a:rPr sz="1600" b="1">
                <a:solidFill>
                  <a:srgbClr val="17241F"/>
                </a:solidFill>
                <a:latin typeface="Calibri"/>
              </a:rPr>
              <a:t>Report any way</a:t>
            </a:r>
            <a:r>
              <a:rPr sz="1600">
                <a:solidFill>
                  <a:srgbClr val="5E6B64"/>
                </a:solidFill>
                <a:latin typeface="Calibri"/>
              </a:rPr>
              <a:t> — tap, photograph a paper invoice, speak it, or text by SMS from a basic phone — no smartphone or internet needed.</a:t>
            </a:r>
          </a:p>
          <a:p>
            <a:pPr>
              <a:lnSpc>
                <a:spcPct val="106000"/>
              </a:lnSpc>
              <a:spcAft>
                <a:spcPts val="1300"/>
              </a:spcAft>
            </a:pPr>
            <a:r>
              <a:rPr sz="1600" b="1">
                <a:solidFill>
                  <a:srgbClr val="0E6E58"/>
                </a:solidFill>
                <a:latin typeface="Calibri"/>
              </a:rPr>
              <a:t>▸  </a:t>
            </a:r>
            <a:r>
              <a:rPr sz="1600" b="1">
                <a:solidFill>
                  <a:srgbClr val="17241F"/>
                </a:solidFill>
                <a:latin typeface="Calibri"/>
              </a:rPr>
              <a:t>Anti-corruption by design</a:t>
            </a:r>
            <a:r>
              <a:rPr sz="1600">
                <a:solidFill>
                  <a:srgbClr val="5E6B64"/>
                </a:solidFill>
                <a:latin typeface="Calibri"/>
              </a:rPr>
              <a:t> — rejects impossible entries, signs every report to a person, and lets citizens confirm from a QR poster at the centre.</a:t>
            </a:r>
          </a:p>
          <a:p>
            <a:pPr>
              <a:lnSpc>
                <a:spcPct val="106000"/>
              </a:lnSpc>
              <a:spcAft>
                <a:spcPts val="1300"/>
              </a:spcAft>
            </a:pPr>
            <a:r>
              <a:rPr sz="1600" b="1">
                <a:solidFill>
                  <a:srgbClr val="0E6E58"/>
                </a:solidFill>
                <a:latin typeface="Calibri"/>
              </a:rPr>
              <a:t>▸  </a:t>
            </a:r>
            <a:r>
              <a:rPr sz="1600" b="1">
                <a:solidFill>
                  <a:srgbClr val="17241F"/>
                </a:solidFill>
                <a:latin typeface="Calibri"/>
              </a:rPr>
              <a:t>Early outbreak warning</a:t>
            </a:r>
            <a:r>
              <a:rPr sz="1600">
                <a:solidFill>
                  <a:srgbClr val="5E6B64"/>
                </a:solidFill>
                <a:latin typeface="Calibri"/>
              </a:rPr>
              <a:t> — spots a spike in fever / diarrhoea medicine across neighbouring centres before it spreads.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806440"/>
            <a:ext cx="7315200" cy="658368"/>
          </a:xfrm>
          <a:prstGeom prst="roundRect">
            <a:avLst>
              <a:gd name="adj" fmla="val 6000"/>
            </a:avLst>
          </a:prstGeom>
          <a:solidFill>
            <a:srgbClr val="0F2E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806440"/>
            <a:ext cx="694944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>
                <a:solidFill>
                  <a:srgbClr val="EAF4EF"/>
                </a:solidFill>
                <a:latin typeface="Calibri"/>
              </a:rPr>
              <a:t>Real algorithms make the decisions; the AI only explains them, in the officer's language.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92440" y="868680"/>
            <a:ext cx="3611880" cy="5623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E4E1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mycentre-pho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5400" y="1051560"/>
            <a:ext cx="1965960" cy="52578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02920" y="6400800"/>
            <a:ext cx="82296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5E6B64"/>
                </a:solidFill>
                <a:latin typeface="Calibri"/>
              </a:rPr>
              <a:t>Live on Google Cloud  ·  smart-health-20737125641.asia-south1.run.app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94415" y="6400800"/>
            <a:ext cx="5943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5E6B64"/>
                </a:solidFill>
                <a:latin typeface="Calibri"/>
              </a:rPr>
              <a:t>2 /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A3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0"/>
            <a:ext cx="64008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Smart Health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87975" y="0"/>
            <a:ext cx="64008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BFE3D8"/>
                </a:solidFill>
                <a:latin typeface="Calibri"/>
              </a:rPr>
              <a:t>Impact &amp; Scalability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2296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800" b="1">
                <a:solidFill>
                  <a:srgbClr val="17241F"/>
                </a:solidFill>
                <a:latin typeface="Calibri"/>
              </a:rPr>
              <a:t>Fewer stock-outs, less diversion, money saved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691640"/>
            <a:ext cx="361188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E4E1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8952" y="1847088"/>
            <a:ext cx="3154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0E6E58"/>
                </a:solidFill>
                <a:latin typeface="Calibri"/>
              </a:rPr>
              <a:t>up to 6 days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" y="2487168"/>
            <a:ext cx="3154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5E6B64"/>
                </a:solidFill>
                <a:latin typeface="Calibri"/>
              </a:rPr>
              <a:t>of early warning before a stock-out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691640"/>
            <a:ext cx="361188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E4E1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53712" y="1847088"/>
            <a:ext cx="3154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0E6E58"/>
                </a:solidFill>
                <a:latin typeface="Calibri"/>
              </a:rPr>
              <a:t>1,800+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53712" y="2487168"/>
            <a:ext cx="3154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5E6B64"/>
                </a:solidFill>
                <a:latin typeface="Calibri"/>
              </a:rPr>
              <a:t>patient-treatments safeguarded in one demo district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2440" y="1691640"/>
            <a:ext cx="361188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E4E1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48472" y="1847088"/>
            <a:ext cx="3154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0E6E58"/>
                </a:solidFill>
                <a:latin typeface="Calibri"/>
              </a:rPr>
              <a:t>100%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48472" y="2487168"/>
            <a:ext cx="3154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5E6B64"/>
                </a:solidFill>
                <a:latin typeface="Calibri"/>
              </a:rPr>
              <a:t>of reports signed, logged &amp; auditable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333756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0E6E58"/>
                </a:solidFill>
                <a:latin typeface="Calibri"/>
              </a:rPr>
              <a:t>READY TO SCALE — HOW GOVERNMENT CAN HELP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3703320"/>
            <a:ext cx="66751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6000"/>
              </a:lnSpc>
              <a:spcAft>
                <a:spcPts val="1100"/>
              </a:spcAft>
            </a:pPr>
            <a:r>
              <a:rPr sz="1600" b="1">
                <a:solidFill>
                  <a:srgbClr val="0E6E58"/>
                </a:solidFill>
                <a:latin typeface="Calibri"/>
              </a:rPr>
              <a:t>▸  </a:t>
            </a:r>
            <a:r>
              <a:rPr sz="1600" b="1">
                <a:solidFill>
                  <a:srgbClr val="17241F"/>
                </a:solidFill>
                <a:latin typeface="Calibri"/>
              </a:rPr>
              <a:t>Already live on Google Cloud</a:t>
            </a:r>
            <a:r>
              <a:rPr sz="1600">
                <a:solidFill>
                  <a:srgbClr val="5E6B64"/>
                </a:solidFill>
                <a:latin typeface="Calibri"/>
              </a:rPr>
              <a:t> — deployable to a real district in weeks.</a:t>
            </a:r>
          </a:p>
          <a:p>
            <a:pPr>
              <a:lnSpc>
                <a:spcPct val="106000"/>
              </a:lnSpc>
              <a:spcAft>
                <a:spcPts val="1100"/>
              </a:spcAft>
            </a:pPr>
            <a:r>
              <a:rPr sz="1600" b="1">
                <a:solidFill>
                  <a:srgbClr val="0E6E58"/>
                </a:solidFill>
                <a:latin typeface="Calibri"/>
              </a:rPr>
              <a:t>▸  </a:t>
            </a:r>
            <a:r>
              <a:rPr sz="1600" b="1">
                <a:solidFill>
                  <a:srgbClr val="17241F"/>
                </a:solidFill>
                <a:latin typeface="Calibri"/>
              </a:rPr>
              <a:t>A pilot in your constituency's PHCs</a:t>
            </a:r>
            <a:r>
              <a:rPr sz="1600">
                <a:solidFill>
                  <a:srgbClr val="5E6B64"/>
                </a:solidFill>
                <a:latin typeface="Calibri"/>
              </a:rPr>
              <a:t> — one block of centres, 90 days.</a:t>
            </a:r>
          </a:p>
          <a:p>
            <a:pPr>
              <a:lnSpc>
                <a:spcPct val="106000"/>
              </a:lnSpc>
              <a:spcAft>
                <a:spcPts val="1100"/>
              </a:spcAft>
            </a:pPr>
            <a:r>
              <a:rPr sz="1600" b="1">
                <a:solidFill>
                  <a:srgbClr val="0E6E58"/>
                </a:solidFill>
                <a:latin typeface="Calibri"/>
              </a:rPr>
              <a:t>▸  </a:t>
            </a:r>
            <a:r>
              <a:rPr sz="1600" b="1">
                <a:solidFill>
                  <a:srgbClr val="17241F"/>
                </a:solidFill>
                <a:latin typeface="Calibri"/>
              </a:rPr>
              <a:t>Integrate, don't replace</a:t>
            </a:r>
            <a:r>
              <a:rPr sz="1600">
                <a:solidFill>
                  <a:srgbClr val="5E6B64"/>
                </a:solidFill>
                <a:latin typeface="Calibri"/>
              </a:rPr>
              <a:t> — syncs with ABDM, e-Aushadhi and HMIS; SMS/WhatsApp for the last mile.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5806440"/>
            <a:ext cx="6675120" cy="658368"/>
          </a:xfrm>
          <a:prstGeom prst="roundRect">
            <a:avLst>
              <a:gd name="adj" fmla="val 6000"/>
            </a:avLst>
          </a:prstGeom>
          <a:solidFill>
            <a:srgbClr val="0E6E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5806440"/>
            <a:ext cx="630936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Calibri"/>
              </a:rPr>
              <a:t>The ask: give us one block of PHCs for a 90-day pilot — we'll bring the numbers.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06640" y="3383280"/>
            <a:ext cx="4297680" cy="3108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E4E1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centre-gr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4268787"/>
            <a:ext cx="3931920" cy="1337945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502920" y="6400800"/>
            <a:ext cx="82296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5E6B64"/>
                </a:solidFill>
                <a:latin typeface="Calibri"/>
              </a:rPr>
              <a:t>Live on Google Cloud  ·  smart-health-20737125641.asia-south1.run.app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94415" y="6400800"/>
            <a:ext cx="5943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5E6B64"/>
                </a:solidFill>
                <a:latin typeface="Calibri"/>
              </a:rPr>
              <a:t>3 /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